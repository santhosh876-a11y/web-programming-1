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12192000"/>
  <p:embeddedFontLst>
    <p:embeddedFont>
      <p:font typeface="Consolas" panose="020B0609020204030204" pitchFamily="49" charset="0"/>
      <p:regular r:id="rId10"/>
      <p:bold r:id="rId11"/>
      <p:italic r:id="rId12"/>
      <p:boldItalic r:id="rId13"/>
    </p:embeddedFont>
    <p:embeddedFont>
      <p:font typeface="Heebo" panose="020F0502020204030204" pitchFamily="2" charset="-79"/>
      <p:regular r:id="rId14"/>
    </p:embeddedFont>
    <p:embeddedFont>
      <p:font typeface="Heebo Bold" panose="020B0604020202020204" charset="-79"/>
      <p:regular r:id="rId15"/>
    </p:embeddedFont>
    <p:embeddedFont>
      <p:font typeface="Heebo Light" panose="020F0502020204030204" pitchFamily="2" charset="-79"/>
      <p:regular r:id="rId16"/>
    </p:embeddedFont>
    <p:embeddedFont>
      <p:font typeface="Heebo Medium" panose="020F0502020204030204" pitchFamily="2" charset="-79"/>
      <p:regular r:id="rId17"/>
    </p:embeddedFont>
    <p:embeddedFont>
      <p:font typeface="Montserrat Medium" panose="020F0502020204030204" pitchFamily="2" charset="0"/>
      <p:regular r:id="rId18"/>
    </p:embeddedFont>
    <p:embeddedFont>
      <p:font typeface="Montserrat SemiBold" panose="020F0502020204030204" pitchFamily="2" charset="0"/>
      <p:regular r:id="rId19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18" Type="http://schemas.openxmlformats.org/officeDocument/2006/relationships/font" Target="fonts/font9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font" Target="fonts/font8.fntdata"/><Relationship Id="rId2" Type="http://schemas.openxmlformats.org/officeDocument/2006/relationships/slide" Target="slides/slide1.xml"/><Relationship Id="rId16" Type="http://schemas.openxmlformats.org/officeDocument/2006/relationships/font" Target="fonts/font7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font" Target="fonts/font6.fntdata"/><Relationship Id="rId23" Type="http://schemas.openxmlformats.org/officeDocument/2006/relationships/tableStyles" Target="tableStyles.xml"/><Relationship Id="rId10" Type="http://schemas.openxmlformats.org/officeDocument/2006/relationships/font" Target="fonts/font1.fntdata"/><Relationship Id="rId19" Type="http://schemas.openxmlformats.org/officeDocument/2006/relationships/font" Target="fonts/font10.fntdata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font" Target="fonts/font5.fntdata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512113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D0A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>
              <a:alpha val="25000"/>
            </a:srgbClr>
          </a:solidFill>
          <a:ln/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2">
    <p:bg>
      <p:bgPr>
        <a:solidFill>
          <a:srgbClr val="0D0A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3.png"/><Relationship Id="rId7" Type="http://schemas.openxmlformats.org/officeDocument/2006/relationships/image" Target="../media/image7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10" Type="http://schemas.openxmlformats.org/officeDocument/2006/relationships/image" Target="../media/image10.svg"/><Relationship Id="rId4" Type="http://schemas.openxmlformats.org/officeDocument/2006/relationships/image" Target="../media/image4.png"/><Relationship Id="rId9" Type="http://schemas.openxmlformats.org/officeDocument/2006/relationships/image" Target="../media/image9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5156" y="2097913"/>
            <a:ext cx="8019849" cy="5363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0000"/>
              </a:lnSpc>
              <a:buNone/>
            </a:pPr>
            <a:r>
              <a:rPr lang="en-US" sz="4400" kern="100" spc="-154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0"/>
              </a:rPr>
              <a:t>RigForge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765156" y="2763004"/>
            <a:ext cx="8019849" cy="6907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2000" kern="100" spc="-50" dirty="0">
                <a:solidFill>
                  <a:srgbClr val="FFFFFF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0"/>
              </a:rPr>
              <a:t>Interactive Gaming PC Builder &amp; Compatibility Estimation System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65156" y="3728938"/>
            <a:ext cx="2646396" cy="31651"/>
          </a:xfrm>
          <a:prstGeom prst="roundRect">
            <a:avLst>
              <a:gd name="adj" fmla="val 49998"/>
            </a:avLst>
          </a:prstGeom>
          <a:solidFill>
            <a:srgbClr val="3B315E"/>
          </a:solidFill>
          <a:ln/>
        </p:spPr>
      </p:sp>
      <p:sp>
        <p:nvSpPr>
          <p:cNvPr id="5" name="Text 3"/>
          <p:cNvSpPr/>
          <p:nvPr/>
        </p:nvSpPr>
        <p:spPr>
          <a:xfrm>
            <a:off x="765156" y="4078288"/>
            <a:ext cx="8019849" cy="5155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Heebo Light" pitchFamily="34" charset="0"/>
                <a:ea typeface="Heebo Light" pitchFamily="34" charset="-122"/>
                <a:cs typeface="Heebo Light" pitchFamily="34" charset="0"/>
              </a:rPr>
              <a:t>A responsive client-side web application for hardware assembly, constraint validation, and budget optimization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765156" y="4784328"/>
            <a:ext cx="8019849" cy="5701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spcAft>
                <a:spcPts val="1450"/>
              </a:spcAft>
              <a:buNone/>
            </a:pPr>
            <a:r>
              <a:rPr lang="en-US" sz="1150" kern="100" spc="17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0"/>
              </a:rPr>
              <a:t>III Year B.E. CSE | Web Programming · Rajalakshmi Engineering College, Chennai</a:t>
            </a:r>
            <a:endParaRPr lang="en-US" sz="115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150" kern="100" spc="17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0"/>
              </a:rPr>
              <a:t>Santhosh G (240701473) &amp; Rohith D (240701435) · Supervisor: Mrs. Deepa, AP/CSE · Oct 2026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876678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35464" y="489141"/>
            <a:ext cx="6197445" cy="9153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3400" kern="100" spc="-85" dirty="0">
                <a:solidFill>
                  <a:srgbClr val="F2F0F4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0"/>
              </a:rPr>
              <a:t>Custom PC building is full of costly friction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5435464" y="1712218"/>
            <a:ext cx="6197445" cy="31651"/>
          </a:xfrm>
          <a:prstGeom prst="roundRect">
            <a:avLst>
              <a:gd name="adj" fmla="val 49998"/>
            </a:avLst>
          </a:prstGeom>
          <a:solidFill>
            <a:srgbClr val="3B315E"/>
          </a:solidFill>
          <a:ln/>
        </p:spPr>
      </p:sp>
      <p:sp>
        <p:nvSpPr>
          <p:cNvPr id="5" name="Text 2"/>
          <p:cNvSpPr/>
          <p:nvPr/>
        </p:nvSpPr>
        <p:spPr>
          <a:xfrm>
            <a:off x="5435464" y="2070013"/>
            <a:ext cx="6197445" cy="3281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900" kern="100" spc="-47" dirty="0">
                <a:solidFill>
                  <a:srgbClr val="DCD7E5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0"/>
              </a:rPr>
              <a:t>Socket mismatches</a:t>
            </a:r>
            <a:endParaRPr lang="en-US" sz="1900" dirty="0"/>
          </a:p>
        </p:txBody>
      </p:sp>
      <p:sp>
        <p:nvSpPr>
          <p:cNvPr id="6" name="Text 3"/>
          <p:cNvSpPr/>
          <p:nvPr/>
        </p:nvSpPr>
        <p:spPr>
          <a:xfrm>
            <a:off x="5435464" y="2542084"/>
            <a:ext cx="6197445" cy="5155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4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0"/>
              </a:rPr>
              <a:t>Forcing Intel LGA1700 into AMD AM4/AM5 bends pins and causes irreversible physical damage.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5435464" y="3582900"/>
            <a:ext cx="6197445" cy="3281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900" kern="100" spc="-47" dirty="0">
                <a:solidFill>
                  <a:srgbClr val="DCD7E5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0"/>
              </a:rPr>
              <a:t>RAM &amp; form factor conflicts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5435464" y="4054971"/>
            <a:ext cx="6197445" cy="5155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4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0"/>
              </a:rPr>
              <a:t>DDR4 and DDR5 differ in key notches, pinouts, and voltages (1.2V vs 1.1V); full ATX motherboards fail to fit Micro-ATX chassis.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5435464" y="5095788"/>
            <a:ext cx="6197445" cy="3281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900" kern="100" spc="-47" dirty="0">
                <a:solidFill>
                  <a:srgbClr val="DCD7E5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0"/>
              </a:rPr>
              <a:t>Power deficits &amp; regional gaps</a:t>
            </a:r>
            <a:endParaRPr lang="en-US" sz="1900" dirty="0"/>
          </a:p>
        </p:txBody>
      </p:sp>
      <p:sp>
        <p:nvSpPr>
          <p:cNvPr id="10" name="Text 7"/>
          <p:cNvSpPr/>
          <p:nvPr/>
        </p:nvSpPr>
        <p:spPr>
          <a:xfrm>
            <a:off x="5435464" y="5567859"/>
            <a:ext cx="6197445" cy="7733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4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0"/>
              </a:rPr>
              <a:t>Undersized PSUs trigger instant shutdown under gaming transients; existing global tools lack native ₹ currency, 18% GST calculation, and burden builders with ads and slow reloads.</a:t>
            </a:r>
            <a:endParaRPr lang="en-US" sz="1450" dirty="0"/>
          </a:p>
        </p:txBody>
      </p:sp>
      <p:sp>
        <p:nvSpPr>
          <p:cNvPr id="11" name="Shape 8"/>
          <p:cNvSpPr/>
          <p:nvPr/>
        </p:nvSpPr>
        <p:spPr>
          <a:xfrm>
            <a:off x="5435464" y="3339505"/>
            <a:ext cx="6197445" cy="12700"/>
          </a:xfrm>
          <a:prstGeom prst="rect">
            <a:avLst/>
          </a:prstGeom>
          <a:solidFill>
            <a:srgbClr val="3B315E"/>
          </a:solidFill>
          <a:ln/>
        </p:spPr>
      </p:sp>
      <p:sp>
        <p:nvSpPr>
          <p:cNvPr id="12" name="Shape 9"/>
          <p:cNvSpPr/>
          <p:nvPr/>
        </p:nvSpPr>
        <p:spPr>
          <a:xfrm>
            <a:off x="5435464" y="4852392"/>
            <a:ext cx="6197445" cy="12700"/>
          </a:xfrm>
          <a:prstGeom prst="rect">
            <a:avLst/>
          </a:prstGeom>
          <a:solidFill>
            <a:srgbClr val="3B315E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987" y="412941"/>
            <a:ext cx="11175720" cy="4576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3400" kern="100" spc="-85" dirty="0">
                <a:solidFill>
                  <a:srgbClr val="F2F0F4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0"/>
              </a:rPr>
              <a:t>Five objectives, one lightweight React stack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07987" y="1178322"/>
            <a:ext cx="11175621" cy="31651"/>
          </a:xfrm>
          <a:prstGeom prst="roundRect">
            <a:avLst>
              <a:gd name="adj" fmla="val 49998"/>
            </a:avLst>
          </a:prstGeom>
          <a:solidFill>
            <a:srgbClr val="3B315E"/>
          </a:solidFill>
          <a:ln/>
        </p:spPr>
      </p:sp>
      <p:sp>
        <p:nvSpPr>
          <p:cNvPr id="4" name="Text 2"/>
          <p:cNvSpPr/>
          <p:nvPr/>
        </p:nvSpPr>
        <p:spPr>
          <a:xfrm>
            <a:off x="507987" y="1527671"/>
            <a:ext cx="5359266" cy="29358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5440" indent="-345440" algn="l">
              <a:lnSpc>
                <a:spcPct val="117000"/>
              </a:lnSpc>
              <a:buSzPct val="100000"/>
              <a:buFont typeface="+mj-lt"/>
              <a:buAutoNum type="arabicPeriod"/>
            </a:pPr>
            <a:r>
              <a:rPr lang="en-US" sz="17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0"/>
              </a:rPr>
              <a:t>8 hardware categories: CPU, GPU, Motherboard, RAM, SSD, PSU, Case, Cooler</a:t>
            </a:r>
            <a:endParaRPr lang="en-US" sz="1700" dirty="0"/>
          </a:p>
          <a:p>
            <a:pPr marL="345440" indent="-345440" algn="l">
              <a:lnSpc>
                <a:spcPct val="117000"/>
              </a:lnSpc>
              <a:buSzPct val="100000"/>
              <a:buFont typeface="+mj-lt"/>
              <a:buAutoNum type="arabicPeriod" startAt="2"/>
            </a:pPr>
            <a:r>
              <a:rPr lang="en-US" sz="17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0"/>
              </a:rPr>
              <a:t>Sub-millisecond compatibility engine for sockets, RAM standards, and power draw</a:t>
            </a:r>
            <a:endParaRPr lang="en-US" sz="1700" dirty="0"/>
          </a:p>
          <a:p>
            <a:pPr marL="345440" indent="-345440" algn="l">
              <a:lnSpc>
                <a:spcPct val="117000"/>
              </a:lnSpc>
              <a:buSzPct val="100000"/>
              <a:buFont typeface="+mj-lt"/>
              <a:buAutoNum type="arabicPeriod" startAt="3"/>
            </a:pPr>
            <a:r>
              <a:rPr lang="en-US" sz="17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0"/>
              </a:rPr>
              <a:t>Live ₹ pricing with 18% GST, no page reloads</a:t>
            </a:r>
            <a:endParaRPr lang="en-US" sz="1700" dirty="0"/>
          </a:p>
          <a:p>
            <a:pPr marL="345440" indent="-345440" algn="l">
              <a:lnSpc>
                <a:spcPct val="117000"/>
              </a:lnSpc>
              <a:buSzPct val="100000"/>
              <a:buFont typeface="+mj-lt"/>
              <a:buAutoNum type="arabicPeriod" startAt="4"/>
            </a:pPr>
            <a:r>
              <a:rPr lang="en-US" sz="17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0"/>
              </a:rPr>
              <a:t>Visual budget planner with presets (₹50k, ₹75k, ₹1L, ₹1.5L) and custom input</a:t>
            </a:r>
            <a:endParaRPr lang="en-US" sz="1700" dirty="0"/>
          </a:p>
          <a:p>
            <a:pPr marL="345440" indent="-345440" algn="l">
              <a:lnSpc>
                <a:spcPct val="117000"/>
              </a:lnSpc>
              <a:buSzPct val="100000"/>
              <a:buFont typeface="+mj-lt"/>
              <a:buAutoNum type="arabicPeriod" startAt="5"/>
            </a:pPr>
            <a:r>
              <a:rPr lang="en-US" sz="17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0"/>
              </a:rPr>
              <a:t>Zero-server persistence: LocalStorage CRUD and printable quotations</a:t>
            </a:r>
            <a:endParaRPr lang="en-US" sz="17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24442" y="1527671"/>
          <a:ext cx="5359266" cy="3214807"/>
        </p:xfrm>
        <a:graphic>
          <a:graphicData uri="http://schemas.openxmlformats.org/drawingml/2006/table">
            <a:tbl>
              <a:tblPr/>
              <a:tblGrid>
                <a:gridCol w="171495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443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8754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F2F0F4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0"/>
                        </a:rPr>
                        <a:t>Layer</a:t>
                      </a:r>
                      <a:endParaRPr lang="en-US" sz="17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0D0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D0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D0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B31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F2F0F4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0"/>
                        </a:rPr>
                        <a:t>Stack</a:t>
                      </a:r>
                      <a:endParaRPr lang="en-US" sz="17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0D0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D0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D0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B31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754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DCD7E5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0"/>
                        </a:rPr>
                        <a:t>React.js 18</a:t>
                      </a:r>
                      <a:endParaRPr lang="en-US" sz="17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0D0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D0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B31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B31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DCD7E5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0"/>
                        </a:rPr>
                        <a:t>useState, useMemo, useContext</a:t>
                      </a:r>
                      <a:endParaRPr lang="en-US" sz="17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0D0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D0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B31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B31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754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DCD7E5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0"/>
                        </a:rPr>
                        <a:t>Bootstrap 5.3</a:t>
                      </a:r>
                      <a:endParaRPr lang="en-US" sz="17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0D0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D0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B31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B31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DCD7E5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0"/>
                        </a:rPr>
                        <a:t>Bootstrap Icons</a:t>
                      </a:r>
                      <a:endParaRPr lang="en-US" sz="17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0D0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D0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B31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B31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8976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DCD7E5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0"/>
                        </a:rPr>
                        <a:t>CSS3</a:t>
                      </a:r>
                      <a:endParaRPr lang="en-US" sz="17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0D0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D0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B31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B31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DCD7E5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0"/>
                        </a:rPr>
                        <a:t>Custom dark cyberpunk (#0a0d14, neon cyan)</a:t>
                      </a:r>
                      <a:endParaRPr lang="en-US" sz="17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0D0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D0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B31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B31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754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DCD7E5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0"/>
                        </a:rPr>
                        <a:t>Vite 5.2</a:t>
                      </a:r>
                      <a:endParaRPr lang="en-US" sz="17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0D0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D0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B31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B31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DCD7E5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0"/>
                        </a:rPr>
                        <a:t>Vite 5.2</a:t>
                      </a:r>
                      <a:endParaRPr lang="en-US" sz="17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0D0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D0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B31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B31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484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DCD7E5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0"/>
                        </a:rPr>
                        <a:t>HTML5</a:t>
                      </a:r>
                      <a:endParaRPr lang="en-US" sz="17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0D0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D0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B31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D0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DCD7E5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0"/>
                        </a:rPr>
                        <a:t>localStorage</a:t>
                      </a:r>
                      <a:endParaRPr lang="en-US" sz="17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0D0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D0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B31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D0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987" y="411997"/>
            <a:ext cx="11175720" cy="429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3200" kern="100" spc="-80" dirty="0">
                <a:solidFill>
                  <a:srgbClr val="F2F0F4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0"/>
              </a:rPr>
              <a:t>One context drives every view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07987" y="982698"/>
            <a:ext cx="11175720" cy="3240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900" kern="100" spc="-47" dirty="0">
                <a:solidFill>
                  <a:srgbClr val="DCD7E5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0"/>
              </a:rPr>
              <a:t>BuilderContext.jsx acts as the single reactive source of truth across all five routed views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507987" y="1559719"/>
            <a:ext cx="11175621" cy="31651"/>
          </a:xfrm>
          <a:prstGeom prst="roundRect">
            <a:avLst>
              <a:gd name="adj" fmla="val 49998"/>
            </a:avLst>
          </a:prstGeom>
          <a:solidFill>
            <a:srgbClr val="3B315E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987" y="1882874"/>
            <a:ext cx="3521979" cy="183653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49281" y="2103503"/>
            <a:ext cx="3280685" cy="1715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50" kern="100" spc="90" dirty="0">
                <a:solidFill>
                  <a:srgbClr val="B6ACCB"/>
                </a:solidFill>
                <a:latin typeface="Heebo Medium" pitchFamily="34" charset="0"/>
                <a:ea typeface="Heebo Medium" pitchFamily="34" charset="-122"/>
                <a:cs typeface="Heebo Medium" pitchFamily="34" charset="0"/>
              </a:rPr>
              <a:t>TIER 1 · UI LAYER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749281" y="2349718"/>
            <a:ext cx="3039391" cy="3078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800" kern="100" spc="-45" dirty="0">
                <a:solidFill>
                  <a:srgbClr val="DCD7E5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0"/>
              </a:rPr>
              <a:t>Presentation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749281" y="2787749"/>
            <a:ext cx="3039391" cy="703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3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0"/>
              </a:rPr>
              <a:t>Navigation Bar, Category Selector, Component Cards Grid, Sticky Sidebar, and Summary Invoice.</a:t>
            </a:r>
            <a:endParaRPr lang="en-US" sz="135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34759" y="1882874"/>
            <a:ext cx="3522078" cy="1836539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576053" y="2103503"/>
            <a:ext cx="3280784" cy="1715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50" kern="100" spc="90" dirty="0">
                <a:solidFill>
                  <a:srgbClr val="B6ACCB"/>
                </a:solidFill>
                <a:latin typeface="Heebo Medium" pitchFamily="34" charset="0"/>
                <a:ea typeface="Heebo Medium" pitchFamily="34" charset="-122"/>
                <a:cs typeface="Heebo Medium" pitchFamily="34" charset="0"/>
              </a:rPr>
              <a:t>TIER 2 · STATE CORE</a:t>
            </a:r>
            <a:endParaRPr lang="en-US" sz="1150" dirty="0"/>
          </a:p>
        </p:txBody>
      </p:sp>
      <p:sp>
        <p:nvSpPr>
          <p:cNvPr id="11" name="Text 7"/>
          <p:cNvSpPr/>
          <p:nvPr/>
        </p:nvSpPr>
        <p:spPr>
          <a:xfrm>
            <a:off x="4576053" y="2349718"/>
            <a:ext cx="3039490" cy="3078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800" kern="100" spc="-45" dirty="0">
                <a:solidFill>
                  <a:srgbClr val="DCD7E5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0"/>
              </a:rPr>
              <a:t>State Management</a:t>
            </a:r>
            <a:endParaRPr lang="en-US" sz="1800" dirty="0"/>
          </a:p>
        </p:txBody>
      </p:sp>
      <p:sp>
        <p:nvSpPr>
          <p:cNvPr id="12" name="Text 8"/>
          <p:cNvSpPr/>
          <p:nvPr/>
        </p:nvSpPr>
        <p:spPr>
          <a:xfrm>
            <a:off x="4576053" y="2787749"/>
            <a:ext cx="3039490" cy="7094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350" dirty="0">
                <a:solidFill>
                  <a:srgbClr val="DCD7E5"/>
                </a:solidFill>
                <a:highlight>
                  <a:srgbClr val="18113D"/>
                </a:highlight>
                <a:latin typeface="Consolas" pitchFamily="34" charset="0"/>
                <a:ea typeface="Consolas" pitchFamily="34" charset="-122"/>
                <a:cs typeface="Consolas" pitchFamily="34" charset="0"/>
              </a:rPr>
              <a:t>BuilderContext.jsx</a:t>
            </a:r>
            <a:r>
              <a:rPr lang="en-US" sz="13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0"/>
              </a:rPr>
              <a:t> provides shared reactive state without prop-drilling or sync lag.</a:t>
            </a:r>
            <a:endParaRPr lang="en-US" sz="1350" dirty="0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61629" y="1882874"/>
            <a:ext cx="3522078" cy="1836539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402923" y="2103503"/>
            <a:ext cx="3280784" cy="1715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50" kern="100" spc="90" dirty="0">
                <a:solidFill>
                  <a:srgbClr val="B6ACCB"/>
                </a:solidFill>
                <a:latin typeface="Heebo Medium" pitchFamily="34" charset="0"/>
                <a:ea typeface="Heebo Medium" pitchFamily="34" charset="-122"/>
                <a:cs typeface="Heebo Medium" pitchFamily="34" charset="0"/>
              </a:rPr>
              <a:t>TIER 3 · LOGIC LAYER</a:t>
            </a:r>
            <a:endParaRPr lang="en-US" sz="1150" dirty="0"/>
          </a:p>
        </p:txBody>
      </p:sp>
      <p:sp>
        <p:nvSpPr>
          <p:cNvPr id="15" name="Text 10"/>
          <p:cNvSpPr/>
          <p:nvPr/>
        </p:nvSpPr>
        <p:spPr>
          <a:xfrm>
            <a:off x="8402923" y="2349718"/>
            <a:ext cx="3039490" cy="3078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800" kern="100" spc="-45" dirty="0">
                <a:solidFill>
                  <a:srgbClr val="DCD7E5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0"/>
              </a:rPr>
              <a:t>Business &amp; Storage</a:t>
            </a:r>
            <a:endParaRPr lang="en-US" sz="1800" dirty="0"/>
          </a:p>
        </p:txBody>
      </p:sp>
      <p:sp>
        <p:nvSpPr>
          <p:cNvPr id="16" name="Text 11"/>
          <p:cNvSpPr/>
          <p:nvPr/>
        </p:nvSpPr>
        <p:spPr>
          <a:xfrm>
            <a:off x="8402923" y="2787749"/>
            <a:ext cx="3039490" cy="7157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350" dirty="0">
                <a:solidFill>
                  <a:srgbClr val="DCD7E5"/>
                </a:solidFill>
                <a:highlight>
                  <a:srgbClr val="18113D"/>
                </a:highlight>
                <a:latin typeface="Consolas" pitchFamily="34" charset="0"/>
                <a:ea typeface="Consolas" pitchFamily="34" charset="-122"/>
                <a:cs typeface="Consolas" pitchFamily="34" charset="0"/>
              </a:rPr>
              <a:t>compatibilityChecker.js</a:t>
            </a:r>
            <a:r>
              <a:rPr lang="en-US" sz="13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0"/>
              </a:rPr>
              <a:t>, </a:t>
            </a:r>
            <a:r>
              <a:rPr lang="en-US" sz="1350" dirty="0">
                <a:solidFill>
                  <a:srgbClr val="DCD7E5"/>
                </a:solidFill>
                <a:highlight>
                  <a:srgbClr val="18113D"/>
                </a:highlight>
                <a:latin typeface="Consolas" pitchFamily="34" charset="0"/>
                <a:ea typeface="Consolas" pitchFamily="34" charset="-122"/>
                <a:cs typeface="Consolas" pitchFamily="34" charset="0"/>
              </a:rPr>
              <a:t>priceCalculator.js</a:t>
            </a:r>
            <a:r>
              <a:rPr lang="en-US" sz="13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0"/>
              </a:rPr>
              <a:t>, and </a:t>
            </a:r>
            <a:r>
              <a:rPr lang="en-US" sz="1350" dirty="0">
                <a:solidFill>
                  <a:srgbClr val="DCD7E5"/>
                </a:solidFill>
                <a:highlight>
                  <a:srgbClr val="18113D"/>
                </a:highlight>
                <a:latin typeface="Consolas" pitchFamily="34" charset="0"/>
                <a:ea typeface="Consolas" pitchFamily="34" charset="-122"/>
                <a:cs typeface="Consolas" pitchFamily="34" charset="0"/>
              </a:rPr>
              <a:t>storage.js</a:t>
            </a:r>
            <a:r>
              <a:rPr lang="en-US" sz="13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0"/>
              </a:rPr>
              <a:t> utilities.</a:t>
            </a:r>
            <a:endParaRPr lang="en-US" sz="1350" dirty="0"/>
          </a:p>
        </p:txBody>
      </p:sp>
      <p:sp>
        <p:nvSpPr>
          <p:cNvPr id="17" name="Shape 12"/>
          <p:cNvSpPr/>
          <p:nvPr/>
        </p:nvSpPr>
        <p:spPr>
          <a:xfrm>
            <a:off x="507987" y="5360987"/>
            <a:ext cx="11175720" cy="28575"/>
          </a:xfrm>
          <a:prstGeom prst="roundRect">
            <a:avLst>
              <a:gd name="adj" fmla="val 39999"/>
            </a:avLst>
          </a:prstGeom>
          <a:solidFill>
            <a:srgbClr val="4D1D94"/>
          </a:solidFill>
          <a:ln/>
        </p:spPr>
      </p:sp>
      <p:sp>
        <p:nvSpPr>
          <p:cNvPr id="18" name="Shape 13"/>
          <p:cNvSpPr/>
          <p:nvPr/>
        </p:nvSpPr>
        <p:spPr>
          <a:xfrm>
            <a:off x="2652745" y="4753421"/>
            <a:ext cx="28574" cy="607616"/>
          </a:xfrm>
          <a:prstGeom prst="roundRect">
            <a:avLst>
              <a:gd name="adj" fmla="val 40000"/>
            </a:avLst>
          </a:prstGeom>
          <a:solidFill>
            <a:srgbClr val="4D1D94"/>
          </a:solidFill>
          <a:ln/>
        </p:spPr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39232" y="5133132"/>
            <a:ext cx="455700" cy="455712"/>
          </a:xfrm>
          <a:prstGeom prst="rect">
            <a:avLst/>
          </a:prstGeom>
        </p:spPr>
      </p:pic>
      <p:pic>
        <p:nvPicPr>
          <p:cNvPr id="20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515132" y="5209034"/>
            <a:ext cx="303800" cy="303808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10488" y="3887093"/>
            <a:ext cx="3913387" cy="3078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3000"/>
              </a:lnSpc>
              <a:buNone/>
            </a:pPr>
            <a:r>
              <a:rPr lang="en-US" sz="1800" kern="100" spc="-45" dirty="0">
                <a:solidFill>
                  <a:srgbClr val="DCD7E5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0"/>
              </a:rPr>
              <a:t>Selection</a:t>
            </a:r>
            <a:endParaRPr lang="en-US" sz="1800" dirty="0"/>
          </a:p>
        </p:txBody>
      </p:sp>
      <p:sp>
        <p:nvSpPr>
          <p:cNvPr id="22" name="Text 15"/>
          <p:cNvSpPr/>
          <p:nvPr/>
        </p:nvSpPr>
        <p:spPr>
          <a:xfrm>
            <a:off x="710488" y="4316413"/>
            <a:ext cx="3913387" cy="2343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3000"/>
              </a:lnSpc>
              <a:buNone/>
            </a:pPr>
            <a:r>
              <a:rPr lang="en-US" sz="13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0"/>
              </a:rPr>
              <a:t>User toggles hardware in catalog</a:t>
            </a:r>
            <a:endParaRPr lang="en-US" sz="1350" dirty="0"/>
          </a:p>
        </p:txBody>
      </p:sp>
      <p:sp>
        <p:nvSpPr>
          <p:cNvPr id="23" name="Shape 16"/>
          <p:cNvSpPr/>
          <p:nvPr/>
        </p:nvSpPr>
        <p:spPr>
          <a:xfrm>
            <a:off x="4938490" y="5360938"/>
            <a:ext cx="28574" cy="607616"/>
          </a:xfrm>
          <a:prstGeom prst="roundRect">
            <a:avLst>
              <a:gd name="adj" fmla="val 40000"/>
            </a:avLst>
          </a:prstGeom>
          <a:solidFill>
            <a:srgbClr val="4D1D94"/>
          </a:solidFill>
          <a:ln/>
        </p:spPr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24976" y="5133132"/>
            <a:ext cx="455700" cy="455712"/>
          </a:xfrm>
          <a:prstGeom prst="rect">
            <a:avLst/>
          </a:prstGeom>
        </p:spPr>
      </p:pic>
      <p:pic>
        <p:nvPicPr>
          <p:cNvPr id="25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800877" y="5209034"/>
            <a:ext cx="303800" cy="303808"/>
          </a:xfrm>
          <a:prstGeom prst="rect">
            <a:avLst/>
          </a:prstGeom>
        </p:spPr>
      </p:pic>
      <p:sp>
        <p:nvSpPr>
          <p:cNvPr id="26" name="Text 17"/>
          <p:cNvSpPr/>
          <p:nvPr/>
        </p:nvSpPr>
        <p:spPr>
          <a:xfrm>
            <a:off x="2996232" y="6171208"/>
            <a:ext cx="3913387" cy="3078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3000"/>
              </a:lnSpc>
              <a:buNone/>
            </a:pPr>
            <a:r>
              <a:rPr lang="en-US" sz="1800" kern="100" spc="-45" dirty="0">
                <a:solidFill>
                  <a:srgbClr val="DCD7E5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0"/>
              </a:rPr>
              <a:t>Dispatch</a:t>
            </a:r>
            <a:endParaRPr lang="en-US" sz="1800" dirty="0"/>
          </a:p>
        </p:txBody>
      </p:sp>
      <p:sp>
        <p:nvSpPr>
          <p:cNvPr id="27" name="Text 18"/>
          <p:cNvSpPr/>
          <p:nvPr/>
        </p:nvSpPr>
        <p:spPr>
          <a:xfrm>
            <a:off x="2996232" y="6600527"/>
            <a:ext cx="3913387" cy="2343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3000"/>
              </a:lnSpc>
              <a:buNone/>
            </a:pPr>
            <a:r>
              <a:rPr lang="en-US" sz="13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0"/>
              </a:rPr>
              <a:t>Action updates central Context state</a:t>
            </a:r>
            <a:endParaRPr lang="en-US" sz="1350" dirty="0"/>
          </a:p>
        </p:txBody>
      </p:sp>
      <p:sp>
        <p:nvSpPr>
          <p:cNvPr id="28" name="Shape 19"/>
          <p:cNvSpPr/>
          <p:nvPr/>
        </p:nvSpPr>
        <p:spPr>
          <a:xfrm>
            <a:off x="7224234" y="4753421"/>
            <a:ext cx="28574" cy="607616"/>
          </a:xfrm>
          <a:prstGeom prst="roundRect">
            <a:avLst>
              <a:gd name="adj" fmla="val 40000"/>
            </a:avLst>
          </a:prstGeom>
          <a:solidFill>
            <a:srgbClr val="4D1D94"/>
          </a:solidFill>
          <a:ln/>
        </p:spPr>
      </p:sp>
      <p:pic>
        <p:nvPicPr>
          <p:cNvPr id="29" name="Image 7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10721" y="5133132"/>
            <a:ext cx="455700" cy="455712"/>
          </a:xfrm>
          <a:prstGeom prst="rect">
            <a:avLst/>
          </a:prstGeom>
        </p:spPr>
      </p:pic>
      <p:pic>
        <p:nvPicPr>
          <p:cNvPr id="30" name="Image 8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086621" y="5209034"/>
            <a:ext cx="303800" cy="303808"/>
          </a:xfrm>
          <a:prstGeom prst="rect">
            <a:avLst/>
          </a:prstGeom>
        </p:spPr>
      </p:pic>
      <p:sp>
        <p:nvSpPr>
          <p:cNvPr id="31" name="Text 20"/>
          <p:cNvSpPr/>
          <p:nvPr/>
        </p:nvSpPr>
        <p:spPr>
          <a:xfrm>
            <a:off x="5281976" y="3887093"/>
            <a:ext cx="3913387" cy="3078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3000"/>
              </a:lnSpc>
              <a:buNone/>
            </a:pPr>
            <a:r>
              <a:rPr lang="en-US" sz="1800" kern="100" spc="-45" dirty="0">
                <a:solidFill>
                  <a:srgbClr val="DCD7E5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0"/>
              </a:rPr>
              <a:t>Parallel Engine</a:t>
            </a:r>
            <a:endParaRPr lang="en-US" sz="1800" dirty="0"/>
          </a:p>
        </p:txBody>
      </p:sp>
      <p:sp>
        <p:nvSpPr>
          <p:cNvPr id="32" name="Text 21"/>
          <p:cNvSpPr/>
          <p:nvPr/>
        </p:nvSpPr>
        <p:spPr>
          <a:xfrm>
            <a:off x="5281976" y="4316413"/>
            <a:ext cx="3913387" cy="2343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3000"/>
              </a:lnSpc>
              <a:buNone/>
            </a:pPr>
            <a:r>
              <a:rPr lang="en-US" sz="13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0"/>
              </a:rPr>
              <a:t>Totals (GST), Sockets &amp; Power evaluate</a:t>
            </a:r>
            <a:endParaRPr lang="en-US" sz="1350" dirty="0"/>
          </a:p>
        </p:txBody>
      </p:sp>
      <p:sp>
        <p:nvSpPr>
          <p:cNvPr id="33" name="Shape 22"/>
          <p:cNvSpPr/>
          <p:nvPr/>
        </p:nvSpPr>
        <p:spPr>
          <a:xfrm>
            <a:off x="9509978" y="5360938"/>
            <a:ext cx="28574" cy="607616"/>
          </a:xfrm>
          <a:prstGeom prst="roundRect">
            <a:avLst>
              <a:gd name="adj" fmla="val 40000"/>
            </a:avLst>
          </a:prstGeom>
          <a:solidFill>
            <a:srgbClr val="4D1D94"/>
          </a:solidFill>
          <a:ln/>
        </p:spPr>
      </p:sp>
      <p:pic>
        <p:nvPicPr>
          <p:cNvPr id="34" name="Image 9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96465" y="5133132"/>
            <a:ext cx="455700" cy="455712"/>
          </a:xfrm>
          <a:prstGeom prst="rect">
            <a:avLst/>
          </a:prstGeom>
        </p:spPr>
      </p:pic>
      <p:pic>
        <p:nvPicPr>
          <p:cNvPr id="35" name="Image 1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372366" y="5209034"/>
            <a:ext cx="303800" cy="303808"/>
          </a:xfrm>
          <a:prstGeom prst="rect">
            <a:avLst/>
          </a:prstGeom>
        </p:spPr>
      </p:pic>
      <p:sp>
        <p:nvSpPr>
          <p:cNvPr id="36" name="Text 23"/>
          <p:cNvSpPr/>
          <p:nvPr/>
        </p:nvSpPr>
        <p:spPr>
          <a:xfrm>
            <a:off x="7567721" y="6171208"/>
            <a:ext cx="3913387" cy="3078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3000"/>
              </a:lnSpc>
              <a:buNone/>
            </a:pPr>
            <a:r>
              <a:rPr lang="en-US" sz="1800" kern="100" spc="-45" dirty="0">
                <a:solidFill>
                  <a:srgbClr val="DCD7E5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0"/>
              </a:rPr>
              <a:t>Fast Render</a:t>
            </a:r>
            <a:endParaRPr lang="en-US" sz="1800" dirty="0"/>
          </a:p>
        </p:txBody>
      </p:sp>
      <p:sp>
        <p:nvSpPr>
          <p:cNvPr id="37" name="Text 24"/>
          <p:cNvSpPr/>
          <p:nvPr/>
        </p:nvSpPr>
        <p:spPr>
          <a:xfrm>
            <a:off x="7567721" y="6600527"/>
            <a:ext cx="3913387" cy="2343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3000"/>
              </a:lnSpc>
              <a:buNone/>
            </a:pPr>
            <a:r>
              <a:rPr lang="en-US" sz="13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0"/>
              </a:rPr>
              <a:t>Virtual DOM reconciles in &lt;16 ms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987" y="285941"/>
            <a:ext cx="11175720" cy="9153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3400" kern="100" spc="-85" dirty="0">
                <a:solidFill>
                  <a:srgbClr val="F2F0F4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0"/>
              </a:rPr>
              <a:t>Four deterministic rules and a three-zone budget bar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07987" y="1509018"/>
            <a:ext cx="11175621" cy="31651"/>
          </a:xfrm>
          <a:prstGeom prst="roundRect">
            <a:avLst>
              <a:gd name="adj" fmla="val 49998"/>
            </a:avLst>
          </a:prstGeom>
          <a:solidFill>
            <a:srgbClr val="3B315E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987" y="1858367"/>
            <a:ext cx="2679633" cy="327610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34984" y="1993813"/>
            <a:ext cx="2425639" cy="3281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900" kern="100" spc="-47" dirty="0">
                <a:solidFill>
                  <a:srgbClr val="DCD7E5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0"/>
              </a:rPr>
              <a:t>Socket</a:t>
            </a:r>
            <a:endParaRPr lang="en-US" sz="1900" dirty="0"/>
          </a:p>
        </p:txBody>
      </p:sp>
      <p:sp>
        <p:nvSpPr>
          <p:cNvPr id="6" name="Text 3"/>
          <p:cNvSpPr/>
          <p:nvPr/>
        </p:nvSpPr>
        <p:spPr>
          <a:xfrm>
            <a:off x="634984" y="2465884"/>
            <a:ext cx="2425639" cy="604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7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0"/>
              </a:rPr>
              <a:t>socket(CPU) == socket(Motherboard)</a:t>
            </a:r>
            <a:endParaRPr lang="en-US" sz="17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40016" y="1858367"/>
            <a:ext cx="2679633" cy="327610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3467013" y="1993813"/>
            <a:ext cx="2425639" cy="3281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900" kern="100" spc="-47" dirty="0">
                <a:solidFill>
                  <a:srgbClr val="DCD7E5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0"/>
              </a:rPr>
              <a:t>Memory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3467013" y="2465884"/>
            <a:ext cx="2425639" cy="604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7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0"/>
              </a:rPr>
              <a:t>ramType(RAM) ⊆ ramType(Motherboard)</a:t>
            </a:r>
            <a:endParaRPr lang="en-US" sz="17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046" y="1858367"/>
            <a:ext cx="2679633" cy="3276104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6299042" y="1993813"/>
            <a:ext cx="2425639" cy="3281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900" kern="100" spc="-47" dirty="0">
                <a:solidFill>
                  <a:srgbClr val="DCD7E5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0"/>
              </a:rPr>
              <a:t>Form factor</a:t>
            </a:r>
            <a:endParaRPr lang="en-US" sz="1900" dirty="0"/>
          </a:p>
        </p:txBody>
      </p:sp>
      <p:sp>
        <p:nvSpPr>
          <p:cNvPr id="12" name="Text 7"/>
          <p:cNvSpPr/>
          <p:nvPr/>
        </p:nvSpPr>
        <p:spPr>
          <a:xfrm>
            <a:off x="6299042" y="2465884"/>
            <a:ext cx="2425639" cy="9066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7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0"/>
              </a:rPr>
              <a:t>motherboard form factor ∈ case supported form factors</a:t>
            </a:r>
            <a:endParaRPr lang="en-US" sz="170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04075" y="1858367"/>
            <a:ext cx="2679633" cy="3276104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9131072" y="1993813"/>
            <a:ext cx="2425639" cy="3281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900" kern="100" spc="-47" dirty="0">
                <a:solidFill>
                  <a:srgbClr val="DCD7E5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0"/>
              </a:rPr>
              <a:t>Power</a:t>
            </a:r>
            <a:endParaRPr lang="en-US" sz="1900" dirty="0"/>
          </a:p>
        </p:txBody>
      </p:sp>
      <p:sp>
        <p:nvSpPr>
          <p:cNvPr id="15" name="Text 9"/>
          <p:cNvSpPr/>
          <p:nvPr/>
        </p:nvSpPr>
        <p:spPr>
          <a:xfrm>
            <a:off x="9131072" y="2465884"/>
            <a:ext cx="2425639" cy="25415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spcAft>
                <a:spcPts val="950"/>
              </a:spcAft>
              <a:buNone/>
            </a:pPr>
            <a:r>
              <a:rPr lang="en-US" sz="17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0"/>
              </a:rPr>
              <a:t>System Draw = TDP(CPU) + TDP(GPU) + 100W; Recommended PSU = Draw × 1.30.</a:t>
            </a:r>
            <a:endParaRPr lang="en-US" sz="1700" dirty="0"/>
          </a:p>
          <a:p>
            <a:pPr marL="0" indent="0" algn="l">
              <a:lnSpc>
                <a:spcPct val="117000"/>
              </a:lnSpc>
              <a:buNone/>
            </a:pPr>
            <a:r>
              <a:rPr lang="en-US" sz="17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0"/>
              </a:rPr>
              <a:t>Critical alert if PSU wattage is below draw, advisory if under 30% headroom</a:t>
            </a:r>
            <a:endParaRPr lang="en-US" sz="1700" dirty="0"/>
          </a:p>
        </p:txBody>
      </p:sp>
      <p:sp>
        <p:nvSpPr>
          <p:cNvPr id="16" name="Shape 10"/>
          <p:cNvSpPr/>
          <p:nvPr/>
        </p:nvSpPr>
        <p:spPr>
          <a:xfrm>
            <a:off x="507987" y="5261471"/>
            <a:ext cx="3623577" cy="1288157"/>
          </a:xfrm>
          <a:prstGeom prst="rect">
            <a:avLst/>
          </a:prstGeom>
          <a:solidFill>
            <a:srgbClr val="14532D"/>
          </a:solidFill>
          <a:ln/>
        </p:spPr>
      </p:sp>
      <p:sp>
        <p:nvSpPr>
          <p:cNvPr id="17" name="Text 11"/>
          <p:cNvSpPr/>
          <p:nvPr/>
        </p:nvSpPr>
        <p:spPr>
          <a:xfrm>
            <a:off x="609585" y="5371517"/>
            <a:ext cx="3420382" cy="3281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900" kern="100" spc="-47" dirty="0">
                <a:solidFill>
                  <a:srgbClr val="FFFFFF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0"/>
              </a:rPr>
              <a:t>Safe</a:t>
            </a:r>
            <a:endParaRPr lang="en-US" sz="1900" dirty="0"/>
          </a:p>
        </p:txBody>
      </p:sp>
      <p:sp>
        <p:nvSpPr>
          <p:cNvPr id="18" name="Text 12"/>
          <p:cNvSpPr/>
          <p:nvPr/>
        </p:nvSpPr>
        <p:spPr>
          <a:xfrm>
            <a:off x="609585" y="5843588"/>
            <a:ext cx="3521979" cy="302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Heebo Light" pitchFamily="34" charset="0"/>
                <a:ea typeface="Heebo Light" pitchFamily="34" charset="-122"/>
                <a:cs typeface="Heebo Light" pitchFamily="34" charset="0"/>
              </a:rPr>
              <a:t>≤85%, green, “Within Budget”</a:t>
            </a:r>
            <a:endParaRPr lang="en-US" sz="1700" dirty="0"/>
          </a:p>
        </p:txBody>
      </p:sp>
      <p:sp>
        <p:nvSpPr>
          <p:cNvPr id="19" name="Shape 13"/>
          <p:cNvSpPr/>
          <p:nvPr/>
        </p:nvSpPr>
        <p:spPr>
          <a:xfrm>
            <a:off x="4283960" y="5261471"/>
            <a:ext cx="3623676" cy="1288157"/>
          </a:xfrm>
          <a:prstGeom prst="rect">
            <a:avLst/>
          </a:prstGeom>
          <a:solidFill>
            <a:srgbClr val="713F12"/>
          </a:solidFill>
          <a:ln/>
        </p:spPr>
      </p:sp>
      <p:sp>
        <p:nvSpPr>
          <p:cNvPr id="20" name="Text 14"/>
          <p:cNvSpPr/>
          <p:nvPr/>
        </p:nvSpPr>
        <p:spPr>
          <a:xfrm>
            <a:off x="4385557" y="5371517"/>
            <a:ext cx="3420481" cy="3281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900" kern="100" spc="-47" dirty="0">
                <a:solidFill>
                  <a:srgbClr val="FFFFFF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0"/>
              </a:rPr>
              <a:t>Caution</a:t>
            </a:r>
            <a:endParaRPr lang="en-US" sz="1900" dirty="0"/>
          </a:p>
        </p:txBody>
      </p:sp>
      <p:sp>
        <p:nvSpPr>
          <p:cNvPr id="21" name="Text 15"/>
          <p:cNvSpPr/>
          <p:nvPr/>
        </p:nvSpPr>
        <p:spPr>
          <a:xfrm>
            <a:off x="4385557" y="5843588"/>
            <a:ext cx="3522078" cy="302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Heebo Light" pitchFamily="34" charset="0"/>
                <a:ea typeface="Heebo Light" pitchFamily="34" charset="-122"/>
                <a:cs typeface="Heebo Light" pitchFamily="34" charset="0"/>
              </a:rPr>
              <a:t>85–100%, amber, “Near Limit”</a:t>
            </a:r>
            <a:endParaRPr lang="en-US" sz="1700" dirty="0"/>
          </a:p>
        </p:txBody>
      </p:sp>
      <p:sp>
        <p:nvSpPr>
          <p:cNvPr id="22" name="Shape 16"/>
          <p:cNvSpPr/>
          <p:nvPr/>
        </p:nvSpPr>
        <p:spPr>
          <a:xfrm>
            <a:off x="8060032" y="5261471"/>
            <a:ext cx="3623676" cy="1288157"/>
          </a:xfrm>
          <a:prstGeom prst="rect">
            <a:avLst/>
          </a:prstGeom>
          <a:solidFill>
            <a:srgbClr val="7F1D1D"/>
          </a:solidFill>
          <a:ln/>
        </p:spPr>
      </p:sp>
      <p:sp>
        <p:nvSpPr>
          <p:cNvPr id="23" name="Text 17"/>
          <p:cNvSpPr/>
          <p:nvPr/>
        </p:nvSpPr>
        <p:spPr>
          <a:xfrm>
            <a:off x="8161629" y="5371517"/>
            <a:ext cx="3420481" cy="3281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900" kern="100" spc="-47" dirty="0">
                <a:solidFill>
                  <a:srgbClr val="FFFFFF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0"/>
              </a:rPr>
              <a:t>Deficit</a:t>
            </a:r>
            <a:endParaRPr lang="en-US" sz="1900" dirty="0"/>
          </a:p>
        </p:txBody>
      </p:sp>
      <p:sp>
        <p:nvSpPr>
          <p:cNvPr id="24" name="Text 18"/>
          <p:cNvSpPr/>
          <p:nvPr/>
        </p:nvSpPr>
        <p:spPr>
          <a:xfrm>
            <a:off x="8161629" y="5843588"/>
            <a:ext cx="3420481" cy="604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Heebo Light" pitchFamily="34" charset="0"/>
                <a:ea typeface="Heebo Light" pitchFamily="34" charset="-122"/>
                <a:cs typeface="Heebo Light" pitchFamily="34" charset="0"/>
              </a:rPr>
              <a:t>&gt;100%, red pulsing alert with exact over-budget amount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41541"/>
            <a:ext cx="10972526" cy="9153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3400" kern="100" spc="-85" dirty="0">
                <a:solidFill>
                  <a:srgbClr val="F2F0F4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0"/>
              </a:rPr>
              <a:t>Delivered features and benchmarks back the design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09585" y="1864618"/>
            <a:ext cx="10972526" cy="31651"/>
          </a:xfrm>
          <a:prstGeom prst="roundRect">
            <a:avLst>
              <a:gd name="adj" fmla="val 49998"/>
            </a:avLst>
          </a:prstGeom>
          <a:solidFill>
            <a:srgbClr val="3B315E"/>
          </a:solidFill>
          <a:ln/>
        </p:spPr>
      </p:sp>
      <p:sp>
        <p:nvSpPr>
          <p:cNvPr id="4" name="Text 2"/>
          <p:cNvSpPr/>
          <p:nvPr/>
        </p:nvSpPr>
        <p:spPr>
          <a:xfrm>
            <a:off x="609585" y="2213967"/>
            <a:ext cx="5958631" cy="24997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7000"/>
              </a:lnSpc>
              <a:spcAft>
                <a:spcPts val="950"/>
              </a:spcAft>
              <a:buNone/>
            </a:pPr>
            <a:r>
              <a:rPr lang="en-US" sz="1700" b="1" dirty="0">
                <a:solidFill>
                  <a:srgbClr val="DCD7E5"/>
                </a:solidFill>
                <a:latin typeface="Heebo Bold" pitchFamily="34" charset="0"/>
                <a:ea typeface="Heebo Bold" pitchFamily="34" charset="-122"/>
                <a:cs typeface="Heebo Bold" pitchFamily="34" charset="0"/>
              </a:rPr>
              <a:t>Builder:</a:t>
            </a:r>
            <a:r>
              <a:rPr lang="en-US" sz="17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0"/>
              </a:rPr>
              <a:t> 8 categories with search, brand filter, price sort.</a:t>
            </a:r>
            <a:endParaRPr lang="en-US" sz="1700" dirty="0"/>
          </a:p>
          <a:p>
            <a:pPr marL="0" indent="0" algn="l">
              <a:lnSpc>
                <a:spcPct val="117000"/>
              </a:lnSpc>
              <a:spcAft>
                <a:spcPts val="950"/>
              </a:spcAft>
              <a:buNone/>
            </a:pPr>
            <a:r>
              <a:rPr lang="en-US" sz="1700" b="1" dirty="0">
                <a:solidFill>
                  <a:srgbClr val="DCD7E5"/>
                </a:solidFill>
                <a:latin typeface="Heebo Bold" pitchFamily="34" charset="0"/>
                <a:ea typeface="Heebo Bold" pitchFamily="34" charset="-122"/>
                <a:cs typeface="Heebo Bold" pitchFamily="34" charset="0"/>
              </a:rPr>
              <a:t>4 presets:</a:t>
            </a:r>
            <a:r>
              <a:rPr lang="en-US" sz="17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0"/>
              </a:rPr>
              <a:t> Budget Esports ₹51k; 1080p Ultra ₹81k; 1440p Powerhouse ₹1.35L; 4K Enthusiast ₹2.30L.</a:t>
            </a:r>
            <a:endParaRPr lang="en-US" sz="1700" dirty="0"/>
          </a:p>
          <a:p>
            <a:pPr marL="0" indent="0" algn="l">
              <a:lnSpc>
                <a:spcPct val="117000"/>
              </a:lnSpc>
              <a:spcAft>
                <a:spcPts val="950"/>
              </a:spcAft>
              <a:buNone/>
            </a:pPr>
            <a:r>
              <a:rPr lang="en-US" sz="1700" b="1" dirty="0">
                <a:solidFill>
                  <a:srgbClr val="DCD7E5"/>
                </a:solidFill>
                <a:latin typeface="Heebo Bold" pitchFamily="34" charset="0"/>
                <a:ea typeface="Heebo Bold" pitchFamily="34" charset="-122"/>
                <a:cs typeface="Heebo Bold" pitchFamily="34" charset="0"/>
              </a:rPr>
              <a:t>Compare</a:t>
            </a:r>
            <a:r>
              <a:rPr lang="en-US" sz="17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0"/>
              </a:rPr>
              <a:t> builds side by side; </a:t>
            </a:r>
            <a:r>
              <a:rPr lang="en-US" sz="1700" b="1" dirty="0">
                <a:solidFill>
                  <a:srgbClr val="DCD7E5"/>
                </a:solidFill>
                <a:latin typeface="Heebo Bold" pitchFamily="34" charset="0"/>
                <a:ea typeface="Heebo Bold" pitchFamily="34" charset="-122"/>
                <a:cs typeface="Heebo Bold" pitchFamily="34" charset="0"/>
              </a:rPr>
              <a:t>print</a:t>
            </a:r>
            <a:r>
              <a:rPr lang="en-US" sz="17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0"/>
              </a:rPr>
              <a:t> specification sheets via </a:t>
            </a:r>
            <a:r>
              <a:rPr lang="en-US" sz="1700" dirty="0">
                <a:solidFill>
                  <a:srgbClr val="DCD7E5"/>
                </a:solidFill>
                <a:highlight>
                  <a:srgbClr val="18113D"/>
                </a:highlight>
                <a:latin typeface="Consolas" pitchFamily="34" charset="0"/>
                <a:ea typeface="Consolas" pitchFamily="34" charset="-122"/>
                <a:cs typeface="Consolas" pitchFamily="34" charset="0"/>
              </a:rPr>
              <a:t>@media print</a:t>
            </a:r>
            <a:r>
              <a:rPr lang="en-US" sz="17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0"/>
              </a:rPr>
              <a:t>; </a:t>
            </a:r>
            <a:r>
              <a:rPr lang="en-US" sz="1700" b="1" dirty="0">
                <a:solidFill>
                  <a:srgbClr val="DCD7E5"/>
                </a:solidFill>
                <a:latin typeface="Heebo Bold" pitchFamily="34" charset="0"/>
                <a:ea typeface="Heebo Bold" pitchFamily="34" charset="-122"/>
                <a:cs typeface="Heebo Bold" pitchFamily="34" charset="0"/>
              </a:rPr>
              <a:t>save</a:t>
            </a:r>
            <a:r>
              <a:rPr lang="en-US" sz="17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0"/>
              </a:rPr>
              <a:t> rigs with LocalStorage CRUD.</a:t>
            </a:r>
            <a:endParaRPr lang="en-US" sz="1700" dirty="0"/>
          </a:p>
          <a:p>
            <a:pPr marL="0" indent="0" algn="l">
              <a:lnSpc>
                <a:spcPct val="117000"/>
              </a:lnSpc>
              <a:buNone/>
            </a:pPr>
            <a:r>
              <a:rPr lang="en-US" sz="17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0"/>
              </a:rPr>
              <a:t>Validation latency 0.52 ms (under 4% of a 60 FPS frame); bundle 72.4 KB gzipped, 0.6s load; 20/20 unit tests passed.</a:t>
            </a:r>
            <a:endParaRPr lang="en-US" sz="17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25305" y="2213967"/>
            <a:ext cx="4556805" cy="341768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025305" y="5717540"/>
            <a:ext cx="4556805" cy="189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50" kern="100" spc="17" dirty="0">
                <a:solidFill>
                  <a:srgbClr val="A8A0BC"/>
                </a:solidFill>
                <a:latin typeface="Heebo" pitchFamily="34" charset="0"/>
                <a:ea typeface="Heebo" pitchFamily="34" charset="-122"/>
                <a:cs typeface="Heebo" pitchFamily="34" charset="0"/>
              </a:rPr>
              <a:t>Lighthouse scores out of 100.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387" y="311341"/>
            <a:ext cx="6248244" cy="9153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3400" kern="100" spc="-85" dirty="0">
                <a:solidFill>
                  <a:srgbClr val="F2F0F4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0"/>
              </a:rPr>
              <a:t>Client-side tools can make PC building error-free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33387" y="1534418"/>
            <a:ext cx="6248244" cy="31651"/>
          </a:xfrm>
          <a:prstGeom prst="roundRect">
            <a:avLst>
              <a:gd name="adj" fmla="val 49998"/>
            </a:avLst>
          </a:prstGeom>
          <a:solidFill>
            <a:srgbClr val="3B315E"/>
          </a:solidFill>
          <a:ln/>
        </p:spPr>
      </p:sp>
      <p:sp>
        <p:nvSpPr>
          <p:cNvPr id="4" name="Text 2"/>
          <p:cNvSpPr/>
          <p:nvPr/>
        </p:nvSpPr>
        <p:spPr>
          <a:xfrm>
            <a:off x="533387" y="1883767"/>
            <a:ext cx="3047924" cy="16349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spcAft>
                <a:spcPts val="950"/>
              </a:spcAft>
              <a:buNone/>
            </a:pPr>
            <a:r>
              <a:rPr lang="en-US" sz="17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0"/>
              </a:rPr>
              <a:t>Automated checks prevent physical and electrical configuration errors</a:t>
            </a:r>
            <a:endParaRPr lang="en-US" sz="1700" dirty="0"/>
          </a:p>
          <a:p>
            <a:pPr marL="0" indent="0" algn="l">
              <a:lnSpc>
                <a:spcPct val="117000"/>
              </a:lnSpc>
              <a:buNone/>
            </a:pPr>
            <a:r>
              <a:rPr lang="en-US" sz="17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0"/>
              </a:rPr>
              <a:t>Responsive cyber-gaming UI on React 18, Bootstrap 5, and Vite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3733707" y="1883767"/>
            <a:ext cx="3047924" cy="13327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spcAft>
                <a:spcPts val="950"/>
              </a:spcAft>
              <a:buNone/>
            </a:pPr>
            <a:r>
              <a:rPr lang="en-US" sz="17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0"/>
              </a:rPr>
              <a:t>Live ₹ pricing, 18% GST, and budget tracking</a:t>
            </a:r>
            <a:endParaRPr lang="en-US" sz="1700" dirty="0"/>
          </a:p>
          <a:p>
            <a:pPr marL="0" indent="0" algn="l">
              <a:lnSpc>
                <a:spcPct val="117000"/>
              </a:lnSpc>
              <a:buNone/>
            </a:pPr>
            <a:r>
              <a:rPr lang="en-US" sz="17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0"/>
              </a:rPr>
              <a:t>Fully client-side, with zero hosting or server cost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533387" y="3889089"/>
            <a:ext cx="6248244" cy="3281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900" kern="100" spc="-47" dirty="0">
                <a:solidFill>
                  <a:srgbClr val="DCD7E5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0"/>
              </a:rPr>
              <a:t>Future work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533387" y="4361160"/>
            <a:ext cx="6248244" cy="16730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5440" indent="-345440" algn="l">
              <a:lnSpc>
                <a:spcPct val="117000"/>
              </a:lnSpc>
              <a:buSzPct val="100000"/>
              <a:buFont typeface="+mj-lt"/>
              <a:buAutoNum type="arabicPeriod"/>
            </a:pPr>
            <a:r>
              <a:rPr lang="en-US" sz="17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0"/>
              </a:rPr>
              <a:t>Live e-commerce scraping from MDComputers and PrimeABGB</a:t>
            </a:r>
            <a:endParaRPr lang="en-US" sz="1700" dirty="0"/>
          </a:p>
          <a:p>
            <a:pPr marL="345440" indent="-345440" algn="l">
              <a:lnSpc>
                <a:spcPct val="117000"/>
              </a:lnSpc>
              <a:buSzPct val="100000"/>
              <a:buFont typeface="+mj-lt"/>
              <a:buAutoNum type="arabicPeriod" startAt="2"/>
            </a:pPr>
            <a:r>
              <a:rPr lang="en-US" sz="17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0"/>
              </a:rPr>
              <a:t>AI-driven FPS predictor and CPU-GPU bottleneck estimates</a:t>
            </a:r>
            <a:endParaRPr lang="en-US" sz="1700" dirty="0"/>
          </a:p>
          <a:p>
            <a:pPr marL="345440" indent="-345440" algn="l">
              <a:lnSpc>
                <a:spcPct val="117000"/>
              </a:lnSpc>
              <a:buSzPct val="100000"/>
              <a:buFont typeface="+mj-lt"/>
              <a:buAutoNum type="arabicPeriod" startAt="3"/>
            </a:pPr>
            <a:r>
              <a:rPr lang="en-US" sz="17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0"/>
              </a:rPr>
              <a:t>Cloud community sharing with Supabase</a:t>
            </a:r>
            <a:endParaRPr lang="en-US" sz="1700" dirty="0"/>
          </a:p>
          <a:p>
            <a:pPr marL="345440" indent="-345440" algn="l">
              <a:lnSpc>
                <a:spcPct val="117000"/>
              </a:lnSpc>
              <a:buSzPct val="100000"/>
              <a:buFont typeface="+mj-lt"/>
              <a:buAutoNum type="arabicPeriod" startAt="4"/>
            </a:pPr>
            <a:r>
              <a:rPr lang="en-US" sz="17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0"/>
              </a:rPr>
              <a:t>3D component assembly in WebGL/Three.js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533387" y="6224687"/>
            <a:ext cx="6781630" cy="302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700" b="1" dirty="0">
                <a:solidFill>
                  <a:srgbClr val="DCD7E5"/>
                </a:solidFill>
                <a:latin typeface="Heebo Bold" pitchFamily="34" charset="0"/>
                <a:ea typeface="Heebo Bold" pitchFamily="34" charset="-122"/>
                <a:cs typeface="Heebo Bold" pitchFamily="34" charset="0"/>
              </a:rPr>
              <a:t>Thank you!</a:t>
            </a:r>
            <a:r>
              <a:rPr lang="en-US" sz="17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0"/>
              </a:rPr>
              <a:t> Questions and discussion invited.</a:t>
            </a:r>
            <a:endParaRPr lang="en-US" sz="170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017" y="0"/>
            <a:ext cx="4876678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677</Words>
  <Application>Microsoft Office PowerPoint</Application>
  <PresentationFormat>Widescreen</PresentationFormat>
  <Paragraphs>89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6" baseType="lpstr">
      <vt:lpstr>Montserrat Medium</vt:lpstr>
      <vt:lpstr>Arial</vt:lpstr>
      <vt:lpstr>Heebo Medium</vt:lpstr>
      <vt:lpstr>Heebo Light</vt:lpstr>
      <vt:lpstr>Montserrat SemiBold</vt:lpstr>
      <vt:lpstr>Consolas</vt:lpstr>
      <vt:lpstr>Heebo Bold</vt:lpstr>
      <vt:lpstr>Heebo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GANESH SANTHOSH</cp:lastModifiedBy>
  <cp:revision>2</cp:revision>
  <dcterms:created xsi:type="dcterms:W3CDTF">2026-10-23T04:41:14Z</dcterms:created>
  <dcterms:modified xsi:type="dcterms:W3CDTF">2026-10-23T04:42:21Z</dcterms:modified>
</cp:coreProperties>
</file>